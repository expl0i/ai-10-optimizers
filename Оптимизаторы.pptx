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lr</c:v>
                </c:pt>
              </c:strCache>
            </c:strRef>
          </c:tx>
          <c:spPr>
            <a:solidFill>
              <a:srgbClr val="8F8260"/>
            </a:solidFill>
            <a:ln w="31750" cap="flat">
              <a:solidFill>
                <a:srgbClr val="8F826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8F8260"/>
              </a:solidFill>
              <a:ln w="9525" cap="flat">
                <a:solidFill>
                  <a:srgbClr val="8F826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0</c:v>
                  </c:pt>
                  <c:pt idx="1">
                    <c:v>5</c:v>
                  </c:pt>
                  <c:pt idx="2">
                    <c:v>10</c:v>
                  </c:pt>
                  <c:pt idx="3">
                    <c:v>15</c:v>
                  </c:pt>
                  <c:pt idx="4">
                    <c:v>20</c:v>
                  </c:pt>
                  <c:pt idx="5">
                    <c:v>25</c:v>
                  </c:pt>
                  <c:pt idx="6">
                    <c:v>30</c:v>
                  </c:pt>
                  <c:pt idx="7">
                    <c:v>35</c:v>
                  </c:pt>
                  <c:pt idx="8">
                    <c:v>40</c:v>
                  </c:pt>
                  <c:pt idx="9">
                    <c:v>45</c:v>
                  </c:pt>
                  <c:pt idx="10">
                    <c:v>50</c:v>
                  </c:pt>
                  <c:pt idx="11">
                    <c:v>55</c:v>
                  </c:pt>
                  <c:pt idx="12">
                    <c:v>60</c:v>
                  </c:pt>
                  <c:pt idx="13">
                    <c:v>65</c:v>
                  </c:pt>
                  <c:pt idx="14">
                    <c:v>70</c:v>
                  </c:pt>
                  <c:pt idx="15">
                    <c:v>75</c:v>
                  </c:pt>
                  <c:pt idx="16">
                    <c:v>80</c:v>
                  </c:pt>
                  <c:pt idx="17">
                    <c:v>85</c:v>
                  </c:pt>
                  <c:pt idx="18">
                    <c:v>90</c:v>
                  </c:pt>
                  <c:pt idx="19">
                    <c:v>95</c:v>
                  </c:pt>
                  <c:pt idx="20">
                    <c:v>100</c:v>
                  </c:pt>
                </c:lvl>
              </c:multiLvlStrCache>
            </c:multiLvl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0.01</c:v>
                </c:pt>
                <c:pt idx="1">
                  <c:v>0.06000000000000001</c:v>
                </c:pt>
                <c:pt idx="2">
                  <c:v>0.1</c:v>
                </c:pt>
                <c:pt idx="3">
                  <c:v>0.09924038765061041</c:v>
                </c:pt>
                <c:pt idx="4">
                  <c:v>0.09698463103929543</c:v>
                </c:pt>
                <c:pt idx="5">
                  <c:v>0.09330127018922195</c:v>
                </c:pt>
                <c:pt idx="6">
                  <c:v>0.0883022221559489</c:v>
                </c:pt>
                <c:pt idx="7">
                  <c:v>0.08213938048432697</c:v>
                </c:pt>
                <c:pt idx="8">
                  <c:v>0.07500000000000001</c:v>
                </c:pt>
                <c:pt idx="9">
                  <c:v>0.06710100716628345</c:v>
                </c:pt>
                <c:pt idx="10">
                  <c:v>0.058682408883346526</c:v>
                </c:pt>
                <c:pt idx="11">
                  <c:v>0.05</c:v>
                </c:pt>
                <c:pt idx="12">
                  <c:v>0.041317591116653486</c:v>
                </c:pt>
                <c:pt idx="13">
                  <c:v>0.03289899283371657</c:v>
                </c:pt>
                <c:pt idx="14">
                  <c:v>0.025000000000000012</c:v>
                </c:pt>
                <c:pt idx="15">
                  <c:v>0.017860619515673033</c:v>
                </c:pt>
                <c:pt idx="16">
                  <c:v>0.011697777844051106</c:v>
                </c:pt>
                <c:pt idx="17">
                  <c:v>0.006698729810778065</c:v>
                </c:pt>
                <c:pt idx="18">
                  <c:v>0.0030153689607045845</c:v>
                </c:pt>
                <c:pt idx="19">
                  <c:v>0.0007596123493895991</c:v>
                </c:pt>
                <c:pt idx="20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6E7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2"/>
      </c:catAx>
      <c:valAx>
        <c:axId val="2094734552"/>
        <c:scaling>
          <c:orientation val="minMax"/>
          <c:max val="0.11"/>
          <c:min val="0"/>
        </c:scaling>
        <c:delete val="0"/>
        <c:axPos val="l"/>
        <c:majorGridlines>
          <c:spPr>
            <a:ln w="6350" cap="flat">
              <a:solidFill>
                <a:srgbClr val="E2E2E6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6E7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Открываем второй блок. В первом блоке мы собрали полносвязные, сверточные и рекуррентные сети и везде обучали их одной строкой `optimizer.step()`. Теперь заглянем внутрь: что делает оптимизатор, почему иногда обучение идет медленно, а иногда потеря становится `nan`, чем Adam отличается от SGD и зачем скорость обучения меняют по расписанию. К концу занятия каждый должен уметь объяснить влияние скорости обучения на числах, рассказать идею импульса и Adam и написать свой оптимизатор.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Предложите класс представить себя на склоне горы в густом тумане: вершины и долины не видно, под ногами чувствуется только уклон. Как быстрее спуститься? (Ожидаемый ответ: шагать туда, где круче всего вниз.) Спросите: «Какой длины делать шаг?» Пусть класс сам сформулирует проблему: маленькими шагами долго, большими можно перешагнуть долину и оказаться на противоположном склоне выше, чем были. Скажите, что уклон под ногами – это градиент, длина шага – скорость обучения, и весь урок посвящен выбору шага и направления.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 01. Напомните правило из 9 класса и из Б1.2: вес сдвигают против градиента потери. Сегодня мы посмотрим на это правило «сверху» – на карте линий уровня простой функции двух переменных – и увидим, почему выбор шага так важен.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Выпишите `w ← w − η·∇f(w)` и расшифруйте: `∇f` – вектор частных производных, направление самого быстрого роста; минус – идем вниз; `η` – скорость обучения (GF 4.3). Для `f = w₁² + 10w₂²` градиент `(2w₁, 20w₂)`. Покажите карту линий уровня с путем спуска при η = 0.05: вытянутые эллипсы, минимум в (0, 0), первый шаг выделен золотым. Подчеркните, что градиент всегда перпендикулярен линии уровня и смотрит не на минимум, а поперек эллипса. Спросите: «Почему градиент в точке (−4, 1) смотрит больше вверх-вниз, чем вправо?» (по w₂ функция в 10 раз круче). Задание О1.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«Считаем вместе». Шаг 1: градиент в (−4, 1) равен (2·(−4), 20·1) = (−8, 20). Шаг 2: умножаем на η = 0.05: (−0.4, 1). Шаг 3: вычитаем: (−4 − (−0.4), 1 − 1) = (−3.6, 0). По второй координате мы за один шаг оказались точно на дне оврага, а по первой продвинулись лишь на 10 %. Дополнительное задание классу: сделайте первый шаг при η = 0.01 (ответ: градиент тот же, точка (−3.92, 0.8)). Проверка – в задании О1.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Покажите траектории для четырех η. Объясните через множители: шаг действует на каждую координату отдельно, w₁ ← (1 − 2η)·w₁, w₂ ← (1 − 20η)·w₂. При η = 0.01 множители 0.98 и 0.8: по w₂ быстро, вдоль дна оврага – ползком. При η = 0.09 – 0.82 и −0.8: зигзаг поперек оврага, но обе координаты сжимаются одинаково быстро. При η = 0.11 второй множитель −1.2 – расходимость. Спросите: «При каком η знак w₂ начинает меняться на каждом шаге?» (при η &gt; 0.05, когда 1 − 20η &lt; 0). Отношение крутизны 20 / 2 = 10 – число обусловленности (GF 8.2.1). Задание О2.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«Считаем вместе». Разберите четыре карточки. η = 0.01: 297 шагов – медленно; объяснение: первая координата каждый шаг уменьшается лишь в 0.98 раза, от 4 до 0.01 нужно около ln 400 / 0.02 ≈ 300 шагов. η = 0.05: 57 шагов. η = 0.09: 31 шаг – почти лучший шаг η* = 2/(2 + 20) ≈ 0.09, при котором оба множителя по модулю равны. η = 0.11: |1 − 2.2| = 1.2 &gt; 1 – точка раскачивается и улетает. Вывод: допустимый шаг определяет самое крутое направление, а скорость – самое пологое. Дополнительное задание: наибольший допустимый η для f = w₁² + 100w₂² (ответ: η &lt; 0.01).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 02. У нейросети потеря – среднее по десяткам тысяч объектов, и точный градиент на каждом шаге считать слишком дорого. Поэтому на практике шагают по приближенному градиенту, посчитанному по небольшой случайной части данных.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Разберите три варианта (GF 8.1.3). Полный градиент – по всем объектам: точно, но один шаг за эпоху. Один объект – очень шумное направление. Мини-пакет из B объектов – среднее их градиентов: несмещенная оценка полного, шум падает как 1/√B, при B = 64 – в 8 раз меньше, чем у одного объекта. Термины: итерация – один шаг по одному пакету; эпоха – проход по всем объектам; для FashionMNIST при B = 64 это 938 итераций. Спросите: «Сколько итераций в эпохе при 10 000 картинок и B = 64?» (157 – столько в задании О6). Напомните, что так была устроена `train_epoch` из Б1.2.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Разберите две стороны шума. Мешает: даже у самого минимума градиент по пакету не равен нулю, и веса «дрожат» вокруг него – поэтому к концу обучения шаг уменьшают (планировщики, слайд 16). Помогает: шум выталкивает из плоских областей и седловых точек, где полный градиент почти нулевой (GF 8.2.3), и часто приводит к решениям, которые лучше обобщаются. Спросите: «Что будет, если взять B = 1 и большой η?» (сильные скачки, обучение может разойтись). Сравните с 9 классом: там `LogisticRegression` из sklearn считала градиент по всем объектам сразу. Задание повышенной сложности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 03. Две идеи улучшения обычного спуска. Первая – инерция: помнить, куда мы двигались раньше. Вторая – адаптивность: у каждого веса свой масштаб шага. Из их сочетания получается Adam – оптимизатор, которым сегодня обучают большинство сетей.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Выпишите формулы импульса: `v ← β·v + ∇f`, `w ← w − η·v` (GF 8.3.2; такую форму использует `torch.optim.SGD`). Метафора: тяжелый шар в овраге разгоняется вдоль дна, а поперечные толчки гасятся инерцией. Если градиент долго смотрит в одну сторону, шаг растет до η/(1 − β), при β = 0.9 – в 10 раз. Если градиент меняет знак, вклады в v взаимно уничтожаются. Упомяните вариант Нестерова: градиент считается в точке, куда шар «собирается» попасть (GF 8.3.3). Спросите: «Какой β мы брали для SGD в задании Р4 Б1.5?» (там был Adam; в О6 будет β = 0.9). Задание О3.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«Считаем вместе». η = 0.05, β = 0.5, v₀ = 0. Шаг 1: v = 0.5·0 + (−8, 20) = (−8, 20), точка (−3.6, 0) – как у обычного спуска. Шаг 2: градиент (−7.2, 0), v = 0.5·(−8, 20) + (−7.2, 0) = (−11.2, 10), точка (−3.6 + 0.56, 0 − 0.5) = (−3.04, −0.5). По w₂ шар по инерции проскочил дно, зато вдоль оврага разогнался: 0.56 вместо 0.36 у обычного шага. Итог: 17 шагов вместо 57. Дополнительное задание: сколько шагов при β = 0.9 (ответ: 83 – слишком большая инерция, шар долго раскачивается).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Пройдите по линии развития адаптивных методов (GF 8.5). Идея: делить шаг каждого веса на «типичную величину» его градиента. AdaGrad копит сумму квадратов градиентов – шаг со временем угасает. RMSProp заменяет сумму скользящим средним – старое забывается. Adam (2014, [ADAM]) добавляет импульс и поправку смещения: `m ← β₁m + (1 − β₁)g`, `v ← β₂v + (1 − β₂)g²`, `m̂ = m/(1 − β₁ᵗ)`, `v̂ = v/(1 − β₂ᵗ)`, `w ← w − η·m̂/(√v̂ + ε)`, обычно β₁ = 0.9, β₂ = 0.999. Спросите: «Зачем делить на 1 − βᵗ?» (m и v стартуют с нуля, без поправки первые шаги были бы в 10 и в 1000 раз меньше). Задание О4.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«Считаем вместе». На первом шаге m = 0.1·g, v = 0.001·g²; после поправки m̂ = g, v̂ = g²; шаг η·g/|g| = η по каждой координате. При η = 0.1 из (−4, 1) получаем (−3.9, 0.9), хотя градиент по w₂ в 2.5 раза больше по модулю. Итог на нашей функции: Adam с η = 0.1 – 105 шагов, с η = 0.3 – 61, а импульс – 17. Вывод: нет лучшего метода на все случаи (GF 8.5.4). На квадратичной функции величина градиента полезна, а Adam ее «выравнивает»; в нейросетях, где крутизна по весам различается в тысячи раз, это как раз достоинство. Дополнительное задание: первый шаг Adam при η = 0.5 (ответ: (−3.5, 0.5)).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Покажите график косинусного расписания с разогревом. Разогрев: первые шаги η линейно растет от малого значения, пока статистики Adam и веса сети не «устоялись». Косинус: η_t = η_max·½·(1 + cos(πt/T)) – плавно до нуля к концу обучения, чтобы шум SGD не мешал точно сесть в минимум. Ступенчатое расписание – уменьшать в 10 раз каждые k эпох. Посчитайте с классом: 100 шагов, разогрев 10, η_max = 0.1 – на шаге 0 будет 0.01, на шаге 9 – 0.1, на шаге 55 – середина косинуса, 0.05, на шаге 100 – 0. В PyTorch расписание задает планировщик из `torch.optim.lr_scheduler`, `sched.step()` вызывают после `opt.step()`. Задание О6.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Сравните две главные рабочие лошадки. SGD с импульсом: мало дополнительной памяти (один тензор на параметр), часто дает лучшую точность на тесте, но требует аккуратного подбора η и расписания. Adam: быстро снижает потерю, мало чувствителен к выбору η, хорошо работает «из коробки», но хранит два дополнительных тензора на каждый параметр и иногда обобщает чуть хуже. Общая слабость всех методов: они видят только локальный уклон и не гарантируют глобальный минимум, а слишком большой η ломает любой из них. Спросите: «Что выбрать для первого эксперимента с новой сетью?» (Adam с η около 10⁻³ – затем пробовать SGD с импульсом).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 04. Практика устроена как обычно: сначала градиентный спуск, импульс и Adam пишутся на тензорах для функции двух переменных, и числа сверяются со слайдами. Затем пишем свой класс-оптимизатор для PyTorch, сверяем его с `torch.optim.SGD` на сверточной сети из Б1.4 и сравниваем готовые оптимизаторы на FashionMNIST.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«Как это хранится в коде». Разберите устройство `torch.optim.Optimizer`: `param_groups` – список групп параметров со своими настройками (`lr`, `momentum`); `state[p]` – словарь для каждого параметра, куда оптимизатор кладет свою память (скорость v у импульса, m и v у Adam); `step()` обновляет параметры на месте внутри `torch.no_grad()`; `zero_grad()` уже написан в базовом классе. Разные группы позволяют, например, дообучать последний слой с большим η, а остальные – с маленьким (пригодится в Б2.5). Спросите: «Во сколько раз Adam увеличивает память под параметры?» (в 3 раза: веса, m и v). Задание О5.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Пройдите по плану практики. О1 – `grad_f` и `sgd_path`, ожидаются числа 297, 57, 31 и расходимость (главное задание); О2 – `factors` и траектории на линиях уровня; О3 – `momentum_path`, 17 шагов; О4 – `adam_path`, первая точка (−3.9, 0.9); О5 – свой `MySGD` как наследник `torch.optim.Optimizer` и сверка с `torch.optim.SGD` (главное задание); О6 – `make_optimizer` и `cosine_lr`, сравнение оптимизаторов и подбор η по сетке. Правило части: в О1–О4 – только тензоры, без `torch.optim`.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Попросите 2–3 учеников объяснить, почему слишком большая скорость обучения ломает спуск и чем импульс помогает в овраге. Тема усвоена, если звучат слова «скорость обучения», «овраг и зигзаги», «мини-пакет», «эпоха и итерация», «импульс – шар с инерцией», «у каждого веса свой шаг», «разогрев и косинус». Пройдитесь по шести пунктам и анонсируйте следующее занятие: почему глубокие сети трудно обучать и как помогают инициализация и BatchNorm.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img7/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0"/>
            <a:ext cx="4572000" cy="51435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109728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«ИСКУССТВЕННЫЙ ИНТЕЛЛЕКТ» · 10 КЛАСС</a:t>
            </a:r>
            <a:endParaRPr lang="en-US" sz="12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146304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Оптимизация: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выбрать шаг спуска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548640" y="4069080"/>
            <a:ext cx="502920" cy="438912"/>
          </a:xfrm>
          <a:prstGeom prst="hexagon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pic>
        <p:nvPicPr>
          <p:cNvPr id="7" name="Image 1" descr="img7/ic_FaGraduationCap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150" y="4187586"/>
            <a:ext cx="201900" cy="20190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188720" y="40873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Инженерная школа «УникУм», КузГТУ им. Т. Ф. Горбачева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img7/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0624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937760" y="822960"/>
            <a:ext cx="502920" cy="438912"/>
          </a:xfrm>
          <a:prstGeom prst="hexagon">
            <a:avLst/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pic>
        <p:nvPicPr>
          <p:cNvPr id="5" name="Image 1" descr="img7/ic_FaQuoteLeft_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8270" y="941466"/>
            <a:ext cx="201900" cy="20190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4937760" y="1417320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«Вы спускаетесь с горы в густом тумане и видите только уклон под ногами. Какой шаг сделать?»</a:t>
            </a:r>
            <a:endParaRPr lang="en-US" sz="1900" dirty="0"/>
          </a:p>
        </p:txBody>
      </p:sp>
      <p:sp>
        <p:nvSpPr>
          <p:cNvPr id="7" name="Text 2"/>
          <p:cNvSpPr txBox="1"/>
          <p:nvPr/>
        </p:nvSpPr>
        <p:spPr>
          <a:xfrm>
            <a:off x="4937760" y="310896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Маленькими шагами – долго. Большими – можно перешагнуть долину и оказаться выше, чем были. Уклон – это градиент, шаг – скорость обучения.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img7/sec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0"/>
            <a:ext cx="4937760" cy="51435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8686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4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2121408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Градиентный спуск</a:t>
            </a:r>
            <a:endParaRPr lang="en-US" sz="25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345643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против градиента и выбор его длины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2 · Оптимизаторы</a:t>
            </a:r>
            <a:endParaRPr lang="en-US" sz="750" dirty="0"/>
          </a:p>
        </p:txBody>
      </p:sp>
      <p:sp>
        <p:nvSpPr>
          <p:cNvPr id="8" name="Text 4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ГРАДИЕНТНЫЙ СПУСК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2120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Шаг против градиента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2 · Оптимизаторы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120640" y="5029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← w − η · ∇f(w)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5120640" y="93268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– скорость обучения (learning rate)</a:t>
            </a:r>
            <a:endParaRPr lang="en-US" sz="900" dirty="0"/>
          </a:p>
        </p:txBody>
      </p:sp>
      <p:pic>
        <p:nvPicPr>
          <p:cNvPr id="9" name="Image 0" descr="img7/sgd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4389120" cy="311810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57200" y="446227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путь градиентного спуска на линиях уровня f</a:t>
            </a:r>
            <a:endParaRPr lang="en-US" sz="850" dirty="0"/>
          </a:p>
        </p:txBody>
      </p:sp>
      <p:sp>
        <p:nvSpPr>
          <p:cNvPr id="11" name="Text 7"/>
          <p:cNvSpPr txBox="1"/>
          <p:nvPr/>
        </p:nvSpPr>
        <p:spPr>
          <a:xfrm>
            <a:off x="5212080" y="1325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5806440" y="135331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 = w₁² + 10·w₂²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5806440" y="1636776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Сквозной пример: минимум в (0, 0).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5212080" y="21031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5806440" y="213055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∇f = (2w₁, 20w₂)</a:t>
            </a:r>
            <a:endParaRPr lang="en-US" sz="1350" dirty="0"/>
          </a:p>
        </p:txBody>
      </p:sp>
      <p:sp>
        <p:nvSpPr>
          <p:cNvPr id="16" name="Text 12"/>
          <p:cNvSpPr txBox="1"/>
          <p:nvPr/>
        </p:nvSpPr>
        <p:spPr>
          <a:xfrm>
            <a:off x="5806440" y="2414016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Направление самого быстрого роста.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5212080" y="2880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4"/>
          <p:cNvSpPr txBox="1"/>
          <p:nvPr/>
        </p:nvSpPr>
        <p:spPr>
          <a:xfrm>
            <a:off x="5806440" y="290779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Линии уровня – эллипсы</a:t>
            </a:r>
            <a:endParaRPr lang="en-US" sz="1350" dirty="0"/>
          </a:p>
        </p:txBody>
      </p:sp>
      <p:sp>
        <p:nvSpPr>
          <p:cNvPr id="19" name="Text 15"/>
          <p:cNvSpPr txBox="1"/>
          <p:nvPr/>
        </p:nvSpPr>
        <p:spPr>
          <a:xfrm>
            <a:off x="5806440" y="3191256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w₂ функция в 10 раз круче.</a:t>
            </a:r>
            <a:endParaRPr lang="en-US" sz="1050" dirty="0"/>
          </a:p>
        </p:txBody>
      </p:sp>
      <p:sp>
        <p:nvSpPr>
          <p:cNvPr id="20" name="Text 16"/>
          <p:cNvSpPr txBox="1"/>
          <p:nvPr/>
        </p:nvSpPr>
        <p:spPr>
          <a:xfrm>
            <a:off x="5212080" y="36576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5806440" y="368503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Старт (−4, 1)</a:t>
            </a:r>
            <a:endParaRPr lang="en-US" sz="1350" dirty="0"/>
          </a:p>
        </p:txBody>
      </p:sp>
      <p:sp>
        <p:nvSpPr>
          <p:cNvPr id="22" name="Text 18"/>
          <p:cNvSpPr txBox="1"/>
          <p:nvPr/>
        </p:nvSpPr>
        <p:spPr>
          <a:xfrm>
            <a:off x="5806440" y="3968496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Стоп, когда ‖w‖ &lt; 0.01.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СЧИТАЕМ ВМЕСТЕ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212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Первый шаг: из (−4, 1) в (−3.6, 0)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2 · Оптимизаторы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= 0.05,  f = w₁² + 10·w₂²,  старт w = (−4, 1)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600200"/>
            <a:ext cx="2468880" cy="2103120"/>
          </a:xfrm>
          <a:prstGeom prst="roundRect">
            <a:avLst>
              <a:gd name="adj" fmla="val 2609"/>
            </a:avLst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7373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1 · ГРАДИЕНТ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1031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(2·(−4), 20·1) = (−8, 20)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2004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w₂ в 2.5 раза круче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00400" y="1600200"/>
            <a:ext cx="2103120" cy="2103120"/>
          </a:xfrm>
          <a:prstGeom prst="roundRect">
            <a:avLst>
              <a:gd name="adj" fmla="val 2609"/>
            </a:avLst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429000" y="17373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2 · × η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3429000" y="21031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0.05 · (−8, 20) = (−0.4, 1)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429000" y="32004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длина сдвига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486400" y="1600200"/>
            <a:ext cx="3108960" cy="2103120"/>
          </a:xfrm>
          <a:prstGeom prst="roundRect">
            <a:avLst>
              <a:gd name="adj" fmla="val 2609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715000" y="1737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 · ВЫЧИТАЕМ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5715000" y="2057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(−4 + 0.4, 1 − 1)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5715000" y="24688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(−3.6, 0)</a:t>
            </a:r>
            <a:endParaRPr lang="en-US" sz="3200" dirty="0"/>
          </a:p>
        </p:txBody>
      </p:sp>
      <p:sp>
        <p:nvSpPr>
          <p:cNvPr id="20" name="Text 17"/>
          <p:cNvSpPr txBox="1"/>
          <p:nvPr/>
        </p:nvSpPr>
        <p:spPr>
          <a:xfrm>
            <a:off x="5715000" y="3200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w₂ – сразу на дне, по w₁ – лишь 10 % пути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3977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– задание О1: sgd_path(w_start, 0.05)[1].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ОВРАГ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212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Вдоль оврага медленно, поперек – зигзаг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2 · Оптимизаторы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000" dirty="0"/>
          </a:p>
        </p:txBody>
      </p:sp>
      <p:pic>
        <p:nvPicPr>
          <p:cNvPr id="7" name="Image 0" descr="img7/paths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8229600" cy="19202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3246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w₁ ← (1 − 2η)·w₁          w₂ ← (1 − 20η)·w₂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37490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|множитель| &lt; 1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404164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координата сходится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3246120" y="37490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множитель &lt; 0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3246120" y="404164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знак меняется – зигзаг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6035040" y="37490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|множитель| &gt; 1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6035040" y="404164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раскачка – расходимость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СЧИТАЕМ ВМЕСТЕ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212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Скорость обучения решает все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2 · Оптимизаторы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234440"/>
            <a:ext cx="1920240" cy="20116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40080" y="13716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η = 0.01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16916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297</a:t>
            </a:r>
            <a:endParaRPr lang="en-US" sz="34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3317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шагов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26060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множители 0.98 и 0.8 – медленно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560320" y="1234440"/>
            <a:ext cx="1920240" cy="20116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2743200" y="13716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η = 0.05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2743200" y="16916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</a:t>
            </a:r>
            <a:endParaRPr lang="en-US" sz="3400" dirty="0"/>
          </a:p>
        </p:txBody>
      </p:sp>
      <p:sp>
        <p:nvSpPr>
          <p:cNvPr id="15" name="Text 12"/>
          <p:cNvSpPr txBox="1"/>
          <p:nvPr/>
        </p:nvSpPr>
        <p:spPr>
          <a:xfrm>
            <a:off x="2743200" y="23317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шагов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2743200" y="26060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 и 0 – по w₂ сразу на дне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663440" y="1234440"/>
            <a:ext cx="1920240" cy="20116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4846320" y="13716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η = 0.09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4846320" y="16916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3400" dirty="0"/>
          </a:p>
        </p:txBody>
      </p:sp>
      <p:sp>
        <p:nvSpPr>
          <p:cNvPr id="20" name="Text 17"/>
          <p:cNvSpPr txBox="1"/>
          <p:nvPr/>
        </p:nvSpPr>
        <p:spPr>
          <a:xfrm>
            <a:off x="4846320" y="23317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шагов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4846320" y="26060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 и −0.8 – почти лучший шаг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766560" y="1234440"/>
            <a:ext cx="1920240" cy="2011680"/>
          </a:xfrm>
          <a:prstGeom prst="roundRect">
            <a:avLst>
              <a:gd name="adj" fmla="val 2857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949440" y="13716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8A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η = 0.11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6949440" y="16916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∞</a:t>
            </a:r>
            <a:endParaRPr lang="en-US" sz="3400" dirty="0"/>
          </a:p>
        </p:txBody>
      </p:sp>
      <p:sp>
        <p:nvSpPr>
          <p:cNvPr id="25" name="Text 22"/>
          <p:cNvSpPr txBox="1"/>
          <p:nvPr/>
        </p:nvSpPr>
        <p:spPr>
          <a:xfrm>
            <a:off x="6949440" y="23317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шагов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6949440" y="26060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−1.2 по w₂ – расходится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57200" y="3474720"/>
            <a:ext cx="8229600" cy="731520"/>
          </a:xfrm>
          <a:prstGeom prst="roundRect">
            <a:avLst>
              <a:gd name="adj" fmla="val 7500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85800" y="3639312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pic>
        <p:nvPicPr>
          <p:cNvPr id="29" name="Image 0" descr="img7/ic_FaLightbulb_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863" y="3747943"/>
            <a:ext cx="185075" cy="185075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1325880" y="3584448"/>
            <a:ext cx="7086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допустимый шаг ограничивает самое крутое направление (η &lt; 2/20 = 0.1), а скорость – самое пологое. Лучший шаг η* = 2/(2 + 20) ≈ 0.09.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img7/sec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0"/>
            <a:ext cx="4937760" cy="51435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8686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4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2121408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Стохастичность</a:t>
            </a:r>
            <a:endParaRPr lang="en-US" sz="25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345643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Градиент по пакету – оценка полного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2 · Оптимизаторы</a:t>
            </a:r>
            <a:endParaRPr lang="en-US" sz="750" dirty="0"/>
          </a:p>
        </p:txBody>
      </p:sp>
      <p:sp>
        <p:nvSpPr>
          <p:cNvPr id="8" name="Text 4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МИНИ-ПАКЕТЫ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2120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Градиент по пакету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2 · Оптимизаторы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120640" y="5029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∇L ≈ (1/B) · Σ ∇ℓᵢ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5120640" y="93268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среднее по B случайным объектам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1325880"/>
            <a:ext cx="260604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85800" y="14630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ОБЪЕКТЫ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1783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точно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24688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шаг за эпоху – медленно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246120" y="1325880"/>
            <a:ext cx="260604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3474720" y="14630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ОБЪЕКТ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3474720" y="1783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шумно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3474720" y="24688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много шагов, направление скачет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035040" y="1325880"/>
            <a:ext cx="2606040" cy="1691640"/>
          </a:xfrm>
          <a:prstGeom prst="roundRect">
            <a:avLst>
              <a:gd name="adj" fmla="val 3243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63640" y="14630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МИНИ-ПАКЕТ, B = 64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6263640" y="1783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 8 раз тише</a:t>
            </a:r>
            <a:endParaRPr lang="en-US" sz="2200" dirty="0"/>
          </a:p>
        </p:txBody>
      </p:sp>
      <p:sp>
        <p:nvSpPr>
          <p:cNvPr id="20" name="Text 17"/>
          <p:cNvSpPr txBox="1"/>
          <p:nvPr/>
        </p:nvSpPr>
        <p:spPr>
          <a:xfrm>
            <a:off x="6263640" y="24688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шум падает как 1/√B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32461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Итерация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354787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шаг по одному пакету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3246120" y="32461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Эпоха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3246120" y="354787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проход по всем объектам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6035040" y="32461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60 000 / 64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6035040" y="354787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938 итераций в эпохе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задании О6: 10 000 картинок, B = 64 – 157 итераций в эпохе.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ШУМ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212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Шум мешает и помогает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2 · Оптимизаторы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234440"/>
            <a:ext cx="397764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85800" y="1417320"/>
            <a:ext cx="502920" cy="438912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pic>
        <p:nvPicPr>
          <p:cNvPr id="9" name="Image 0" descr="img7/ic_FaCheck_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310" y="1535826"/>
            <a:ext cx="201900" cy="2019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146304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Помогает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731520" y="201168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выталкивает из плоских областей и седловых точек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часто дает решения, которые лучше обобщаются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709160" y="1234440"/>
            <a:ext cx="3977640" cy="2194560"/>
          </a:xfrm>
          <a:prstGeom prst="roundRect">
            <a:avLst>
              <a:gd name="adj" fmla="val 2500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937760" y="1417320"/>
            <a:ext cx="502920" cy="438912"/>
          </a:xfrm>
          <a:prstGeom prst="hexagon">
            <a:avLst/>
          </a:prstGeom>
          <a:solidFill>
            <a:srgbClr val="3A3A42"/>
          </a:solidFill>
          <a:ln w="12700">
            <a:solidFill>
              <a:srgbClr val="3A3A42"/>
            </a:solidFill>
            <a:prstDash val="solid"/>
          </a:ln>
        </p:spPr>
      </p:sp>
      <p:pic>
        <p:nvPicPr>
          <p:cNvPr id="14" name="Image 1" descr="img7/ic_FaTimes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8270" y="1535826"/>
            <a:ext cx="201900" cy="2019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577840" y="146304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Мешает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4983480" y="201168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минимума градиент пакета не равен нулю – веса «дрожат»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B = 1 и большом η обучение разваливается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57200" y="365760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85800" y="3776472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pic>
        <p:nvPicPr>
          <p:cNvPr id="19" name="Image 2" descr="img7/ic_FaLightbulb_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863" y="3885103"/>
            <a:ext cx="185075" cy="185075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325880" y="3767328"/>
            <a:ext cx="7086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 концу обучения шаг уменьшают – для этого нужны планировщики скорости обучения (слайд 16).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img7/sec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0"/>
            <a:ext cx="4937760" cy="51435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8686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4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2121408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Импульс и адаптивность</a:t>
            </a:r>
            <a:endParaRPr lang="en-US" sz="25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345643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каждого веса своя скорость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2 · Оптимизаторы</a:t>
            </a:r>
            <a:endParaRPr lang="en-US" sz="750" dirty="0"/>
          </a:p>
        </p:txBody>
      </p:sp>
      <p:sp>
        <p:nvSpPr>
          <p:cNvPr id="8" name="Text 4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ИМПУЛЬС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2120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Шар с инерцией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2 · Оптимизаторы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120640" y="5029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← β·v + ∇f,   w ← w − η·v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5120640" y="93268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 считает torch.optim.SGD(momentum=β)</a:t>
            </a:r>
            <a:endParaRPr lang="en-US" sz="900" dirty="0"/>
          </a:p>
        </p:txBody>
      </p:sp>
      <p:pic>
        <p:nvPicPr>
          <p:cNvPr id="9" name="Image 0" descr="img7/metho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4389120" cy="311810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120640" y="1389888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120640" y="138988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5760720" y="1371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Вдоль дна – разгон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5760720" y="166420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растет до η / (1 − β): при β = 0.9 – в 10 раз.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120640" y="2304288"/>
            <a:ext cx="457200" cy="402336"/>
          </a:xfrm>
          <a:prstGeom prst="hexagon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120640" y="230428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5760720" y="22860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Поперек – гашение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5760720" y="257860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Градиенты разного знака в v взаимно гасятся.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120640" y="3218688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5120640" y="321868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5760720" y="3200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Нестеров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5760720" y="349300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Градиент – в точке, куда шар «собирается».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СЧИТАЕМ ВМЕСТЕ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212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Импульс 0.5: 17 шагов вместо 57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2 · Оптимизаторы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= 0.05,  β = 0.5,  v₀ = 0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600200"/>
            <a:ext cx="2468880" cy="2286000"/>
          </a:xfrm>
          <a:prstGeom prst="roundRect">
            <a:avLst>
              <a:gd name="adj" fmla="val 2400"/>
            </a:avLst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7373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1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1031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 = (−8, 20)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2514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 = (−3.6, 0)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3383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у обычного спуска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00400" y="1600200"/>
            <a:ext cx="2103120" cy="2286000"/>
          </a:xfrm>
          <a:prstGeom prst="roundRect">
            <a:avLst>
              <a:gd name="adj" fmla="val 2609"/>
            </a:avLst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429000" y="17373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2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3429000" y="21031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0.5·(−8, 20) + (−7.2, 0) = (−11.2, 10)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3429000" y="27889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 = (−3.04, −0.5)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3429000" y="33832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вдоль дна 0.56 вместо 0.36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486400" y="1600200"/>
            <a:ext cx="3108960" cy="2286000"/>
          </a:xfrm>
          <a:prstGeom prst="roundRect">
            <a:avLst>
              <a:gd name="adj" fmla="val 2400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715000" y="1737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5715000" y="2057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‖w‖ &lt; 0.01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5715000" y="24231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 шагов</a:t>
            </a:r>
            <a:endParaRPr lang="en-US" sz="3200" dirty="0"/>
          </a:p>
        </p:txBody>
      </p:sp>
      <p:sp>
        <p:nvSpPr>
          <p:cNvPr id="22" name="Text 19"/>
          <p:cNvSpPr txBox="1"/>
          <p:nvPr/>
        </p:nvSpPr>
        <p:spPr>
          <a:xfrm>
            <a:off x="5715000" y="3246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против 57 без импульса; при β = 0.9 – 83: раскачка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АДАПТИВНЫЕ МЕТОДЫ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212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AdaGrad → RMSProp → Adam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2 · Оптимизаторы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371600" y="1234440"/>
            <a:ext cx="914400" cy="804672"/>
          </a:xfrm>
          <a:prstGeom prst="hexagon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371600" y="1234440"/>
            <a:ext cx="914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2834640" y="14630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148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AdaGrad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2514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82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← r + g²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2834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g / √r: со временем угасает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114800" y="1234440"/>
            <a:ext cx="914400" cy="804672"/>
          </a:xfrm>
          <a:prstGeom prst="hexagon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114800" y="1234440"/>
            <a:ext cx="914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577840" y="14630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3383280" y="2148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RMSProp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3383280" y="2514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82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← ρr + (1 − ρ)g²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3383280" y="2834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скользящее среднее: старое забывается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858000" y="1234440"/>
            <a:ext cx="914400" cy="804672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858000" y="1234440"/>
            <a:ext cx="914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6126480" y="2148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Adam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6126480" y="2514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82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m, v + поправка 1 − βᵗ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6126480" y="2834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импульс + RMSProp, 2014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822960" y="3520440"/>
            <a:ext cx="7498080" cy="731520"/>
          </a:xfrm>
          <a:prstGeom prst="roundRect">
            <a:avLst>
              <a:gd name="adj" fmla="val 7500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051560" y="3685032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pic>
        <p:nvPicPr>
          <p:cNvPr id="26" name="Image 0" descr="img7/ic_FaLightbulb_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7623" y="3793663"/>
            <a:ext cx="185075" cy="185075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1691640" y="3630168"/>
            <a:ext cx="6355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Идея: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делить шаг каждого веса на типичную величину его градиента – крутые направления шагают осторожно, пологие смело.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СЧИТАЕМ ВМЕСТЕ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212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Первый шаг Adam одинаков по всем весам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2 · Оптимизаторы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m̂ = g,  v̂ = g²   ⇒   шаг = η · g / |g| = η по каждой координате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1691640"/>
            <a:ext cx="260604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85800" y="18288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ADAM, η = 0.1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2148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(−3.9, 0.9)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28346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шаг: −0.1 по обеим осям; 105 шагов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246120" y="1691640"/>
            <a:ext cx="260604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3474720" y="18288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ADAM, η = 0.3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3474720" y="2148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 шаг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3474720" y="28346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крупнее шаг – быстрее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035040" y="1691640"/>
            <a:ext cx="2606040" cy="1691640"/>
          </a:xfrm>
          <a:prstGeom prst="roundRect">
            <a:avLst>
              <a:gd name="adj" fmla="val 3243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263640" y="18288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ИМПУЛЬС 0.5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263640" y="2148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 шагов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263640" y="28346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этой функции – лучший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57200" y="361188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85800" y="3753612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pic>
        <p:nvPicPr>
          <p:cNvPr id="22" name="Image 0" descr="img7/ic_FaLightbulb_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863" y="3862243"/>
            <a:ext cx="185075" cy="185075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1325880" y="3721608"/>
            <a:ext cx="70866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лучшего на все случаи (GF 8.5.4):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простой квадратичной функции Adam проигрывает, а в сетях с тысячами разных масштабов обычно выигрывает.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ПЛАНИРОВЩИКИ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212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Шаг меняют по расписанию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2 · Оптимизаторы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65760" y="1188720"/>
          <a:ext cx="475488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457200" y="3703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шагов, разогрев 10, η_max = 0.1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5394960" y="1298448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394960" y="129844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6035040" y="1280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Разогрев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6035040" y="157276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шаги 0 → 9: η от 0.01 до 0.1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5394960" y="2121408"/>
            <a:ext cx="457200" cy="402336"/>
          </a:xfrm>
          <a:prstGeom prst="hexagon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394960" y="212140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6035040" y="21031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Косинус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6035040" y="23957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55 – 0.05, шаг 100 – 0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5394960" y="2944368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394960" y="294436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6035040" y="2926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Ступенька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6035040" y="321868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10 раз меньше каждые k эпох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457200" y="4069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ηₜ = η_max · ½ · (1 + cos(π·t / T))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ИТОГОВАЯ ОЦЕНКА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212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Сильные и слабые стороны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2 · Оптимизаторы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0" y="3337560"/>
            <a:ext cx="9144000" cy="1805940"/>
          </a:xfrm>
          <a:prstGeom prst="rect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2 · Оптимизаторы</a:t>
            </a:r>
            <a:endParaRPr lang="en-US" sz="75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68680" y="1188720"/>
            <a:ext cx="361188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097280" y="1371600"/>
            <a:ext cx="502920" cy="438912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97280" y="137160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737360" y="14173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SGD с импульсом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143000" y="196596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мало памяти: один тензор на вес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часто лучшая точность на тесте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нужно подбирать η и расписание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медленнее стартует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663440" y="1188720"/>
            <a:ext cx="361188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892040" y="1371600"/>
            <a:ext cx="502920" cy="438912"/>
          </a:xfrm>
          <a:prstGeom prst="hexagon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892040" y="137160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5532120" y="14173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Adam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4937760" y="196596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быстро снижает потерю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мало чувствителен к выбору η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память ×3: веса, m и v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иногда обобщает чуть хуже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3886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Общее: 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методы видят только локальный уклон, и слишком большой шаг ломает любой из них. Для первого опыта – Adam с η ≈ 10⁻³.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img7/sec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0"/>
            <a:ext cx="4937760" cy="51435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8686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4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2121408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Пишем оптимизаторы на Python</a:t>
            </a:r>
            <a:endParaRPr lang="en-US" sz="25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345643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Практическая работа №2, часть 1О: от формулы до torch.optim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2 · Оптимизаторы</a:t>
            </a:r>
            <a:endParaRPr lang="en-US" sz="750" dirty="0"/>
          </a:p>
        </p:txBody>
      </p:sp>
      <p:sp>
        <p:nvSpPr>
          <p:cNvPr id="8" name="Text 4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ХРАНИТСЯ В КОДЕ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212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Оптимизатор хранит группы и состояние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2 · Оптимизаторы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4846320" cy="2788920"/>
          </a:xfrm>
          <a:prstGeom prst="roundRect">
            <a:avLst>
              <a:gd name="adj" fmla="val 1967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135331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КЛАСС-НАСЛЕДНИК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1645920"/>
            <a:ext cx="4389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MySGD(torch.optim.Optimizer):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params, lr, momentum):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super().__init__(params,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dict(lr=lr, momentum=momentum))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@torch.no_grad()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step(self):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group in self.param_groups: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for p in group['params']: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...  # state[p]['v'], p.add_(...)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577840" y="12344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6172200" y="126187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param_groups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6172200" y="154533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Параметры и их lr, momentum.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5577840" y="20574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6172200" y="208483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state[p]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6172200" y="236829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Память метода: v, или m и v.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5577840" y="2880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6172200" y="290779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step()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6172200" y="319125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Меняет веса на месте без графа.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zero_grad() уже есть в базовом классе. Разные группы – разный lr (пригодится в Б2.5).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 ПРАКТИКИ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212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Шесть заданий – от формулы до сети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2 · Оптимизаторы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2651760" cy="1143000"/>
          </a:xfrm>
          <a:prstGeom prst="roundRect">
            <a:avLst>
              <a:gd name="adj" fmla="val 4800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1554480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155448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О1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1234440" y="13716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8A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grad_f · sgd_path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234440" y="193852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297, 57, 31 и расходимость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73552" y="1188720"/>
            <a:ext cx="26517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56432" y="1554480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456432" y="155448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О2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4050792" y="13716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factors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4050792" y="193852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Множители и траектории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089904" y="1188720"/>
            <a:ext cx="26517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272784" y="1554480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272784" y="155448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О3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6867144" y="13716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momentum_path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6867144" y="193852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шагов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57200" y="2514600"/>
            <a:ext cx="26517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40080" y="2880360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080" y="288036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О4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1234440" y="26974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adam_path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234440" y="326440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Первая точка (−3.9, 0.9)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3273552" y="2514600"/>
            <a:ext cx="2651760" cy="1143000"/>
          </a:xfrm>
          <a:prstGeom prst="roundRect">
            <a:avLst>
              <a:gd name="adj" fmla="val 4800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456432" y="2880360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456432" y="288036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О5</a:t>
            </a:r>
            <a:endParaRPr lang="en-US" sz="950" dirty="0"/>
          </a:p>
        </p:txBody>
      </p:sp>
      <p:sp>
        <p:nvSpPr>
          <p:cNvPr id="30" name="Text 27"/>
          <p:cNvSpPr txBox="1"/>
          <p:nvPr/>
        </p:nvSpPr>
        <p:spPr>
          <a:xfrm>
            <a:off x="4050792" y="26974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8A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MySGD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4050792" y="326440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Сверка с torch.optim.SGD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6089904" y="2514600"/>
            <a:ext cx="26517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6272784" y="2880360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272784" y="288036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О6</a:t>
            </a:r>
            <a:endParaRPr lang="en-US" sz="950" dirty="0"/>
          </a:p>
        </p:txBody>
      </p:sp>
      <p:sp>
        <p:nvSpPr>
          <p:cNvPr id="35" name="Text 32"/>
          <p:cNvSpPr txBox="1"/>
          <p:nvPr/>
        </p:nvSpPr>
        <p:spPr>
          <a:xfrm>
            <a:off x="6867144" y="26974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make_optimizer · cosine_lr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6867144" y="326440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SGD, импульс, Adam на FashionMNIST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457200" y="3931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О1–О4 – только тензоры, без torch.optim; в О5 – свой наследник Optimizer.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657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ИТОГИ ЗАНЯТИЯ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669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должно остаться в голове</a:t>
            </a:r>
            <a:endParaRPr lang="en-US" sz="2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325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7335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w ← w − η·∇f: η решает все – 297, 57, 31 шаг или расходимость.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3063240" y="1325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3063240" y="167335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ограничивает самое крутое направление, скорость – самое пологое.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468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81635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Мини-пакет – оценка полного градиента; эпоха и итерация.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3063240" y="2468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3063240" y="281635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Импульс – шар с инерцией: 17 шагов вместо 57.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3611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395935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Adam: у каждого веса свой шаг; нет лучшего на все случаи.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3063240" y="3611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3063240" y="395935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Разогрев и косинус: большой шаг в начале, маленький в конце.</a:t>
            </a:r>
            <a:endParaRPr lang="en-US" sz="1050" dirty="0"/>
          </a:p>
        </p:txBody>
      </p:sp>
      <p:pic>
        <p:nvPicPr>
          <p:cNvPr id="17" name="Image 0" descr="img7/hexop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502920"/>
            <a:ext cx="2926080" cy="3236976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8183880" y="3749040"/>
            <a:ext cx="502920" cy="438912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2 · Оптимизаторы</a:t>
            </a:r>
            <a:endParaRPr lang="en-US" sz="750" dirty="0"/>
          </a:p>
        </p:txBody>
      </p:sp>
      <p:sp>
        <p:nvSpPr>
          <p:cNvPr id="20" name="Text 16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2026-09-24T13:12:33Z</dcterms:created>
  <dcterms:modified xsi:type="dcterms:W3CDTF">2026-09-24T13:12:33Z</dcterms:modified>
</cp:coreProperties>
</file>